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1" r:id="rId3"/>
    <p:sldId id="257" r:id="rId4"/>
    <p:sldId id="258" r:id="rId5"/>
    <p:sldId id="259" r:id="rId6"/>
    <p:sldId id="273" r:id="rId7"/>
    <p:sldId id="260" r:id="rId8"/>
    <p:sldId id="261" r:id="rId9"/>
    <p:sldId id="279" r:id="rId10"/>
    <p:sldId id="262" r:id="rId11"/>
    <p:sldId id="263" r:id="rId12"/>
    <p:sldId id="264" r:id="rId13"/>
    <p:sldId id="274" r:id="rId14"/>
    <p:sldId id="265" r:id="rId15"/>
    <p:sldId id="266" r:id="rId16"/>
    <p:sldId id="267" r:id="rId17"/>
    <p:sldId id="268" r:id="rId18"/>
    <p:sldId id="277" r:id="rId19"/>
    <p:sldId id="269" r:id="rId20"/>
    <p:sldId id="270" r:id="rId21"/>
    <p:sldId id="272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8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Market Access Controls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7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 Rule 15c3-5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Analytics, Kafka, and AWS in Practice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out M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Name"/>
          <p:cNvSpPr/>
          <p:nvPr/>
        </p:nvSpPr>
        <p:spPr>
          <a:xfrm>
            <a:off x="731520" y="18669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Lucas Little</a:t>
            </a:r>
            <a:endParaRPr lang="en-US" sz="2800" dirty="0"/>
          </a:p>
        </p:txBody>
      </p:sp>
      <p:sp>
        <p:nvSpPr>
          <p:cNvPr id="4" name="Title"/>
          <p:cNvSpPr/>
          <p:nvPr/>
        </p:nvSpPr>
        <p:spPr>
          <a:xfrm>
            <a:off x="731520" y="2506980"/>
            <a:ext cx="463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Intelligent Data &amp; Cloud  |  Ippon Technologies</a:t>
            </a:r>
            <a:endParaRPr lang="en-US" sz="1600" dirty="0"/>
          </a:p>
        </p:txBody>
      </p:sp>
      <p:sp>
        <p:nvSpPr>
          <p:cNvPr id="5" name="Divider"/>
          <p:cNvSpPr/>
          <p:nvPr/>
        </p:nvSpPr>
        <p:spPr>
          <a:xfrm>
            <a:off x="731520" y="3055620"/>
            <a:ext cx="2743200" cy="27432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Experience Details"/>
          <p:cNvSpPr/>
          <p:nvPr/>
        </p:nvSpPr>
        <p:spPr>
          <a:xfrm>
            <a:off x="731520" y="3604260"/>
            <a:ext cx="365760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Ally Invest, Vanguard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Certification SME (2019–2024)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 Charlotte Class of 2009</a:t>
            </a:r>
            <a:b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400" dirty="0">
              <a:solidFill>
                <a:srgbClr val="A0AE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8CB95-42BF-2709-4ECE-126F5370AC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14" t="22866" r="13465" b="22256"/>
          <a:stretch>
            <a:fillRect/>
          </a:stretch>
        </p:blipFill>
        <p:spPr>
          <a:xfrm>
            <a:off x="6262371" y="1270635"/>
            <a:ext cx="1831337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1, 2012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Knight Capital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200400" cy="16459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$440M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45 minutes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719072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untested trading software to production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221992"/>
            <a:ext cx="164592" cy="164592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algorithm executed millions of erroneous trades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724912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kill switch — couldn't stop all servers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227832"/>
            <a:ext cx="164592" cy="164592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acquired at fire-sale price 6 months later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company that defined electronic trading was destroyed by its own technology."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Rule 15c3-5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Access Rule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4864" cy="59436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Controls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must be checked before it reaches the market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54864" cy="59436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able to immediately halt all trading from any account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768096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54864" cy="59436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&amp; Exclusive Control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971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broker-dealer controls the switch — not the customer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7680960" cy="5943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54864" cy="59436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3703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records of all controls and their operation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C20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an order touches the market, something must check it. If something goes wrong, you must stop everything immediately. And you must prove you did.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245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16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3F20B2D-D051-2168-BB5C-2724722B1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18786"/>
            <a:ext cx="4671060" cy="47418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-to-End Order Flow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End-to-End Order Flow</a:t>
            </a:r>
          </a:p>
        </p:txBody>
      </p:sp>
      <p:sp>
        <p:nvSpPr>
          <p:cNvPr id="10" name="Step1Bg"/>
          <p:cNvSpPr/>
          <p:nvPr/>
        </p:nvSpPr>
        <p:spPr>
          <a:xfrm>
            <a:off x="731520" y="868680"/>
            <a:ext cx="246888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tep1"/>
          <p:cNvSpPr/>
          <p:nvPr/>
        </p:nvSpPr>
        <p:spPr>
          <a:xfrm>
            <a:off x="868680" y="868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</a:rPr>
              <a:t>1  Order Generated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Lambda produces order → orders.v1</a:t>
            </a:r>
          </a:p>
        </p:txBody>
      </p:sp>
      <p:sp>
        <p:nvSpPr>
          <p:cNvPr id="12" name="Step2Bg"/>
          <p:cNvSpPr/>
          <p:nvPr/>
        </p:nvSpPr>
        <p:spPr>
          <a:xfrm>
            <a:off x="3383280" y="868680"/>
            <a:ext cx="246888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tep2"/>
          <p:cNvSpPr/>
          <p:nvPr/>
        </p:nvSpPr>
        <p:spPr>
          <a:xfrm>
            <a:off x="3520440" y="868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</a:rPr>
              <a:t>2  Spark Analyzes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60s window → risk_signals.v1</a:t>
            </a:r>
          </a:p>
        </p:txBody>
      </p:sp>
      <p:sp>
        <p:nvSpPr>
          <p:cNvPr id="14" name="Step3Bg"/>
          <p:cNvSpPr/>
          <p:nvPr/>
        </p:nvSpPr>
        <p:spPr>
          <a:xfrm>
            <a:off x="6035040" y="868680"/>
            <a:ext cx="246888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tep3"/>
          <p:cNvSpPr/>
          <p:nvPr/>
        </p:nvSpPr>
        <p:spPr>
          <a:xfrm>
            <a:off x="6172200" y="868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</a:rPr>
              <a:t>3  Breach Detected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Spark emits → killswitch.commands.v1</a:t>
            </a:r>
          </a:p>
        </p:txBody>
      </p:sp>
      <p:sp>
        <p:nvSpPr>
          <p:cNvPr id="16" name="Step4Bg"/>
          <p:cNvSpPr/>
          <p:nvPr/>
        </p:nvSpPr>
        <p:spPr>
          <a:xfrm>
            <a:off x="731520" y="1691640"/>
            <a:ext cx="246888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tep4"/>
          <p:cNvSpPr/>
          <p:nvPr/>
        </p:nvSpPr>
        <p:spPr>
          <a:xfrm>
            <a:off x="86868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</a:rPr>
              <a:t>4  State Updated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Aggregator → killswitch.state.v1 (compacted)</a:t>
            </a:r>
          </a:p>
        </p:txBody>
      </p:sp>
      <p:sp>
        <p:nvSpPr>
          <p:cNvPr id="18" name="Step5Bg"/>
          <p:cNvSpPr/>
          <p:nvPr/>
        </p:nvSpPr>
        <p:spPr>
          <a:xfrm>
            <a:off x="3383280" y="1691640"/>
            <a:ext cx="246888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tep5"/>
          <p:cNvSpPr/>
          <p:nvPr/>
        </p:nvSpPr>
        <p:spPr>
          <a:xfrm>
            <a:off x="352044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</a:rPr>
              <a:t>5  Order Dropped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Router checks state, drops → audit.v1</a:t>
            </a:r>
          </a:p>
        </p:txBody>
      </p:sp>
      <p:sp>
        <p:nvSpPr>
          <p:cNvPr id="20" name="Step6Bg"/>
          <p:cNvSpPr/>
          <p:nvPr/>
        </p:nvSpPr>
        <p:spPr>
          <a:xfrm>
            <a:off x="6035040" y="1691640"/>
            <a:ext cx="246888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tep6"/>
          <p:cNvSpPr/>
          <p:nvPr/>
        </p:nvSpPr>
        <p:spPr>
          <a:xfrm>
            <a:off x="6172200" y="1691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</a:rPr>
              <a:t>6  Operator Reviews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Human unkills → orders flow again</a:t>
            </a:r>
          </a:p>
        </p:txBody>
      </p:sp>
      <p:sp>
        <p:nvSpPr>
          <p:cNvPr id="22" name="FooterBg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Footer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137160" tIns="0" rIns="13716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</a:rPr>
              <a:t>Every step tracked by correlation ID  —  6 Kafka topics  —  Full audit trail from order to enforcement</a:t>
            </a:r>
          </a:p>
        </p:txBody>
      </p:sp>
      <p:sp>
        <p:nvSpPr>
          <p:cNvPr id="24" name="Scopes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Kill Switch Scopes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</a:rPr>
              <a:t>GLOBAL stops everything  |  ACCOUNT:12345 stops one account  |  SYMBOL:AAPL stops one stock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Event Backbone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Topics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orders.v1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order stream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risk_signals.v1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metrics from Spark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killswitch.commands.v1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Kill/unkill commands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killswitch.state.v1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per scope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orders.gated.v1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orders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audit.v1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routing decision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371600"/>
            <a:ext cx="3383280" cy="31089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0" y="19202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Commands topic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Everything that ever happened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ACCT:123 → KILL   (t=100)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ACCT:123 → UNKILL (t=200)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ACCT:123 → KILL   (t=300)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State topic (compacted)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</a:rPr>
              <a:t>What's true right now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ACCT:123 → KILLED (t=300)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Detection with Windowing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Tumbling Windows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60320" cy="914400"/>
          </a:xfrm>
          <a:prstGeom prst="rect">
            <a:avLst/>
          </a:prstGeom>
          <a:solidFill>
            <a:srgbClr val="1A1A1A"/>
          </a:solidFill>
          <a:ln w="25400">
            <a:solidFill>
              <a:srgbClr val="007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:00 – :60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109728" cy="109728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34440" y="2286000"/>
            <a:ext cx="109728" cy="109728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2286000"/>
            <a:ext cx="109728" cy="109728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2286000"/>
            <a:ext cx="109728" cy="109728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94560" y="2286000"/>
            <a:ext cx="109728" cy="109728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1828800"/>
            <a:ext cx="2560320" cy="914400"/>
          </a:xfrm>
          <a:prstGeom prst="rect">
            <a:avLst/>
          </a:prstGeom>
          <a:solidFill>
            <a:srgbClr val="1A1A1A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:00 – :60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97764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780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7840" y="22860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0" y="2514600"/>
            <a:ext cx="109728" cy="10972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1828800"/>
            <a:ext cx="2560320" cy="914400"/>
          </a:xfrm>
          <a:prstGeom prst="rect">
            <a:avLst/>
          </a:prstGeom>
          <a:solidFill>
            <a:srgbClr val="1A1A1A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:00 – :60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4088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6092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0100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21040" y="22860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00800" y="25146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720840" y="25146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040880" y="25146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360920" y="2514600"/>
            <a:ext cx="109728" cy="109728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solidFill>
            <a:srgbClr val="17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31089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orders_df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.withWatermark("event_time", "60 seconds")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window(event_time, '60 seconds'),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account_id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.agg(count(*), sum(notional), collect_list(symbol))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ection Pipelin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5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31520" y="137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The Detection Pipeline</a:t>
            </a:r>
          </a:p>
        </p:txBody>
      </p:sp>
      <p:sp>
        <p:nvSpPr>
          <p:cNvPr id="4" name="Sub"/>
          <p:cNvSpPr/>
          <p:nvPr/>
        </p:nvSpPr>
        <p:spPr>
          <a:xfrm>
            <a:off x="731520" y="548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</a:rPr>
              <a:t>From raw orders to kill commands — the actual code</a:t>
            </a:r>
          </a:p>
        </p:txBody>
      </p:sp>
      <p:sp>
        <p:nvSpPr>
          <p:cNvPr id="10" name="S1Bg"/>
          <p:cNvSpPr/>
          <p:nvPr/>
        </p:nvSpPr>
        <p:spPr>
          <a:xfrm>
            <a:off x="731520" y="960120"/>
            <a:ext cx="2651760" cy="28727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1"/>
          <p:cNvSpPr/>
          <p:nvPr/>
        </p:nvSpPr>
        <p:spPr>
          <a:xfrm>
            <a:off x="868680" y="96012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</a:rPr>
              <a:t>1  Aggregate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00703C"/>
                </a:solidFill>
                <a:latin typeface="Consolas" pitchFamily="34" charset="0"/>
              </a:rPr>
              <a:t>compute_risk_signals()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Per account, per 60s window: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count(*)           → order_count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sum(notional)      → total_notional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collect_list(sym)  → concentration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</a:rPr>
              <a:t>Single aggregation pass — no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</a:rPr>
              <a:t>stream-stream joins needed.</a:t>
            </a:r>
          </a:p>
        </p:txBody>
      </p:sp>
      <p:sp>
        <p:nvSpPr>
          <p:cNvPr id="12" name="S2Bg"/>
          <p:cNvSpPr/>
          <p:nvPr/>
        </p:nvSpPr>
        <p:spPr>
          <a:xfrm>
            <a:off x="3520440" y="960120"/>
            <a:ext cx="2651760" cy="28727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2"/>
          <p:cNvSpPr/>
          <p:nvPr/>
        </p:nvSpPr>
        <p:spPr>
          <a:xfrm>
            <a:off x="3657600" y="960120"/>
            <a:ext cx="2377440" cy="274320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25444"/>
                </a:solidFill>
                <a:latin typeface="Calibri" pitchFamily="34" charset="0"/>
              </a:rPr>
              <a:t>2  Detect Breaches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E25444"/>
                </a:solidFill>
                <a:latin typeface="Consolas" pitchFamily="34" charset="0"/>
              </a:rPr>
              <a:t>detect_threshold_breaches()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Three boolean checks: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order_count &gt; 100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total_notional &gt; $1M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top_symbol_share &gt; 70%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</a:rPr>
              <a:t>Filter: keep only rows where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</a:rPr>
              <a:t>at least one breach is True.</a:t>
            </a:r>
          </a:p>
        </p:txBody>
      </p:sp>
      <p:sp>
        <p:nvSpPr>
          <p:cNvPr id="14" name="S3Bg"/>
          <p:cNvSpPr/>
          <p:nvPr/>
        </p:nvSpPr>
        <p:spPr>
          <a:xfrm>
            <a:off x="6309360" y="960120"/>
            <a:ext cx="2194560" cy="28727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3"/>
          <p:cNvSpPr/>
          <p:nvPr/>
        </p:nvSpPr>
        <p:spPr>
          <a:xfrm>
            <a:off x="6446520" y="960120"/>
            <a:ext cx="1920240" cy="274320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</a:rPr>
              <a:t>3  Emit Kill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</a:rPr>
              <a:t>write_kill_commands()</a:t>
            </a:r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Build command with: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scope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reason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metric + value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</a:rPr>
              <a:t>  corr_id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</a:rPr>
              <a:t>Write to Kafka as JSON.</a:t>
            </a:r>
          </a:p>
        </p:txBody>
      </p:sp>
      <p:sp>
        <p:nvSpPr>
          <p:cNvPr id="30" name="Footer"/>
          <p:cNvSpPr/>
          <p:nvPr/>
        </p:nvSpPr>
        <p:spPr>
          <a:xfrm>
            <a:off x="731520" y="3886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</a:rPr>
              <a:t>All thresholds are configurable via Terraform variables. The entire pipeline is a single Spark Structured Streaming job with two output sinks (risk_signals.v1 and killswitch.commands.v1).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Thresholds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9601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4864" cy="9601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234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100 orders / 60s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0" y="1280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algorithm sending orders faster than any human could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9601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2331720"/>
            <a:ext cx="54864" cy="9601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$1M / 60s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 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788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dollar exposure accumulating too quickly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7680960" cy="9601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54864" cy="96012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70% one symbol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4048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Hammering a single stock — broken algo or manipulation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Knight Capital would have tripped all three within seconds.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Switch Lifecycle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822960" cy="822960"/>
          </a:xfrm>
          <a:prstGeom prst="ellipse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32004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flowing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371600"/>
            <a:ext cx="822960" cy="822960"/>
          </a:xfrm>
          <a:prstGeom prst="ellipse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1168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80360" y="1783080"/>
            <a:ext cx="32004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8308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detects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1371600"/>
            <a:ext cx="822960" cy="822960"/>
          </a:xfrm>
          <a:prstGeom prst="ellipse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32004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emitted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0"/>
            <a:ext cx="822960" cy="822960"/>
          </a:xfrm>
          <a:prstGeom prst="ellipse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715000" y="1783080"/>
            <a:ext cx="32004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1772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1772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dropped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1371600"/>
            <a:ext cx="822960" cy="822960"/>
          </a:xfrm>
          <a:prstGeom prst="ellipse">
            <a:avLst/>
          </a:prstGeom>
          <a:solidFill>
            <a:srgbClr val="00703C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132320" y="1783080"/>
            <a:ext cx="320040" cy="0"/>
          </a:xfrm>
          <a:prstGeom prst="line">
            <a:avLst/>
          </a:prstGeom>
          <a:noFill/>
          <a:ln w="254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checks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1371600"/>
            <a:ext cx="822960" cy="822960"/>
          </a:xfrm>
          <a:prstGeom prst="ellipse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8096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452360" y="2377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UNKILL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5236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restored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3291840"/>
            <a:ext cx="347472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31520" y="3291840"/>
            <a:ext cx="54864" cy="82296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0584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detection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triggers the kill switch — no human in the loop for detection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37760" y="3291840"/>
            <a:ext cx="347472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37760" y="3291840"/>
            <a:ext cx="54864" cy="82296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212080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recovery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must review and explicitly restore access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audited with correlation IDs for full traceability.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4864" cy="50292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Serverless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without managing brokers, ZooKeeper, storage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4864" cy="5029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Serverless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1737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without managing clusters. Submit a job, it scales.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37744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without servers. No patching, no capacity planning.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017520"/>
            <a:ext cx="54864" cy="50292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key-value lookups. On-demand pricing.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65760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54864" cy="502920"/>
          </a:xfrm>
          <a:prstGeom prst="rect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3657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in one line of Terraform.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WS Meets the Rul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How AWS Addresses SEC 15c3-5</a:t>
            </a:r>
          </a:p>
        </p:txBody>
      </p:sp>
      <p:sp>
        <p:nvSpPr>
          <p:cNvPr id="4" name="Subtitle"/>
          <p:cNvSpPr/>
          <p:nvPr/>
        </p:nvSpPr>
        <p:spPr>
          <a:xfrm>
            <a:off x="731520" y="685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</a:rPr>
              <a:t>Mapping each regulatory requirement to AWS services</a:t>
            </a:r>
          </a:p>
        </p:txBody>
      </p:sp>
      <p:sp>
        <p:nvSpPr>
          <p:cNvPr id="10" name="Req10_bg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q10_border"/>
          <p:cNvSpPr/>
          <p:nvPr/>
        </p:nvSpPr>
        <p:spPr>
          <a:xfrm>
            <a:off x="731520" y="1051560"/>
            <a:ext cx="45720" cy="640080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qText10"/>
          <p:cNvSpPr/>
          <p:nvPr/>
        </p:nvSpPr>
        <p:spPr>
          <a:xfrm>
            <a:off x="914400" y="1051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Pre-Trade Controls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Every order checked in real-time before execution</a:t>
            </a:r>
          </a:p>
        </p:txBody>
      </p:sp>
      <p:sp>
        <p:nvSpPr>
          <p:cNvPr id="13" name="ReqSvc10"/>
          <p:cNvSpPr/>
          <p:nvPr/>
        </p:nvSpPr>
        <p:spPr>
          <a:xfrm>
            <a:off x="4572000" y="1051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3C"/>
                </a:solidFill>
                <a:latin typeface="Calibri" pitchFamily="34" charset="0"/>
              </a:rPr>
              <a:t>MSK + Lambda + EMR Serverless</a:t>
            </a:r>
          </a:p>
        </p:txBody>
      </p:sp>
      <p:sp>
        <p:nvSpPr>
          <p:cNvPr id="20" name="Req20_bg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q20_border"/>
          <p:cNvSpPr/>
          <p:nvPr/>
        </p:nvSpPr>
        <p:spPr>
          <a:xfrm>
            <a:off x="731520" y="1828800"/>
            <a:ext cx="45720" cy="640080"/>
          </a:xfrm>
          <a:prstGeom prst="rect">
            <a:avLst/>
          </a:prstGeom>
          <a:solidFill>
            <a:srgbClr val="E25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qText20"/>
          <p:cNvSpPr/>
          <p:nvPr/>
        </p:nvSpPr>
        <p:spPr>
          <a:xfrm>
            <a:off x="91440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Kill Switch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Immediate halt capability with sub-second propagation</a:t>
            </a:r>
          </a:p>
        </p:txBody>
      </p:sp>
      <p:sp>
        <p:nvSpPr>
          <p:cNvPr id="23" name="ReqSvc20"/>
          <p:cNvSpPr/>
          <p:nvPr/>
        </p:nvSpPr>
        <p:spPr>
          <a:xfrm>
            <a:off x="4572000" y="1828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3C"/>
                </a:solidFill>
                <a:latin typeface="Calibri" pitchFamily="34" charset="0"/>
              </a:rPr>
              <a:t>API Gateway + Lambda + Kafka Compacted Topic</a:t>
            </a:r>
          </a:p>
        </p:txBody>
      </p:sp>
      <p:sp>
        <p:nvSpPr>
          <p:cNvPr id="30" name="Req30_bg"/>
          <p:cNvSpPr/>
          <p:nvPr/>
        </p:nvSpPr>
        <p:spPr>
          <a:xfrm>
            <a:off x="731520" y="2606040"/>
            <a:ext cx="768096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Req30_border"/>
          <p:cNvSpPr/>
          <p:nvPr/>
        </p:nvSpPr>
        <p:spPr>
          <a:xfrm>
            <a:off x="731520" y="2606040"/>
            <a:ext cx="45720" cy="6400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qText30"/>
          <p:cNvSpPr/>
          <p:nvPr/>
        </p:nvSpPr>
        <p:spPr>
          <a:xfrm>
            <a:off x="914400" y="2606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Direct &amp; Exclusive Control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Human operator controls the switch — not the algo</a:t>
            </a:r>
          </a:p>
        </p:txBody>
      </p:sp>
      <p:sp>
        <p:nvSpPr>
          <p:cNvPr id="33" name="ReqSvc30"/>
          <p:cNvSpPr/>
          <p:nvPr/>
        </p:nvSpPr>
        <p:spPr>
          <a:xfrm>
            <a:off x="457200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3C"/>
                </a:solidFill>
                <a:latin typeface="Calibri" pitchFamily="34" charset="0"/>
              </a:rPr>
              <a:t>API Gateway (Operator Console)</a:t>
            </a:r>
          </a:p>
        </p:txBody>
      </p:sp>
      <p:sp>
        <p:nvSpPr>
          <p:cNvPr id="40" name="Req40_bg"/>
          <p:cNvSpPr/>
          <p:nvPr/>
        </p:nvSpPr>
        <p:spPr>
          <a:xfrm>
            <a:off x="731520" y="3383280"/>
            <a:ext cx="7680960" cy="6400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Req40_border"/>
          <p:cNvSpPr/>
          <p:nvPr/>
        </p:nvSpPr>
        <p:spPr>
          <a:xfrm>
            <a:off x="731520" y="3383280"/>
            <a:ext cx="45720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qText40"/>
          <p:cNvSpPr/>
          <p:nvPr/>
        </p:nvSpPr>
        <p:spPr>
          <a:xfrm>
            <a:off x="91440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Audit Trail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Immutable, append-only log with correlation IDs</a:t>
            </a:r>
          </a:p>
        </p:txBody>
      </p:sp>
      <p:sp>
        <p:nvSpPr>
          <p:cNvPr id="43" name="ReqSvc40"/>
          <p:cNvSpPr/>
          <p:nvPr/>
        </p:nvSpPr>
        <p:spPr>
          <a:xfrm>
            <a:off x="457200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3C"/>
                </a:solidFill>
                <a:latin typeface="Calibri" pitchFamily="34" charset="0"/>
              </a:rPr>
              <a:t>Kafka (90-day) + DynamoDB + CloudWatch</a:t>
            </a:r>
          </a:p>
        </p:txBody>
      </p:sp>
      <p:sp>
        <p:nvSpPr>
          <p:cNvPr id="50" name="Footer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Detection is decoupled from enforcement. Spark detects, Lambda enforces, Kafka connects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2468880"/>
            <a:ext cx="2743200" cy="36576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0AE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see it in action.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 Locally in 2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solidFill>
            <a:srgbClr val="17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github.com/lukelittle/sec-15c3-5-market-access-controls-example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sec-15c3-5-market-access-controls-example/local</a:t>
            </a:r>
            <a:endParaRPr lang="en-US" sz="12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 -d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it. Kafka, Spark, all 4 services, Kafka UI.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7680960" cy="411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AKHQ (Kafka UI)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localhost:8080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topics and messages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7680960" cy="411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Console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3611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kill/unkill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680960" cy="4114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Risk Detector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(background)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anomalies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$0. Requires: Docker. That's 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Terraform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657600" cy="256032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4864" cy="25603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Terraform?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infrastructure in code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apply to create it 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terraform destroy to tear it down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version-controlled, reviewable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clicking through AWS console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17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project's modules: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terraform/modules/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vpc/          # Network isolation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msk/          # Kafka cluster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lambdas/      # 4 functions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emr_serverless/ # Spark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dynamodb/     # State + audit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api_gateway/  # HTTP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cloudwatch/   # Monitoring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iam/          # Permissions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applying for cloud or platform engineering roles, Terraform is on every job listing.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Deploying to 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171B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 build                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terraform/envs/dev        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terraform init &amp;&amp; terraform apply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15-20 min. Done.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cost?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7680960" cy="347472"/>
          </a:xfrm>
          <a:prstGeom prst="rect">
            <a:avLst/>
          </a:prstGeom>
          <a:solidFill>
            <a:srgbClr val="2D35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3063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3063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Cost/hour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29000"/>
            <a:ext cx="768096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Serverless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429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Kafka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34290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$2-3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768096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Serverless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Spark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7947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$1-2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60520"/>
            <a:ext cx="7680960" cy="34747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+ DynamoDB + S3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cache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4160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~$0.50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526280"/>
            <a:ext cx="7680960" cy="3474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4526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526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$4-6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urity and Compliance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</a:rPr>
              <a:t>Security &amp; Production Gaps</a:t>
            </a:r>
          </a:p>
        </p:txBody>
      </p:sp>
      <p:sp>
        <p:nvSpPr>
          <p:cNvPr id="4" name="Sub"/>
          <p:cNvSpPr/>
          <p:nvPr/>
        </p:nvSpPr>
        <p:spPr>
          <a:xfrm>
            <a:off x="731520" y="594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</a:rPr>
              <a:t>What this demo does well, and what a real broker-dealer would need</a:t>
            </a:r>
          </a:p>
        </p:txBody>
      </p:sp>
      <p:sp>
        <p:nvSpPr>
          <p:cNvPr id="10" name="HaveBg"/>
          <p:cNvSpPr/>
          <p:nvPr/>
        </p:nvSpPr>
        <p:spPr>
          <a:xfrm>
            <a:off x="731520" y="1005840"/>
            <a:ext cx="3749040" cy="2468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Have"/>
          <p:cNvSpPr/>
          <p:nvPr/>
        </p:nvSpPr>
        <p:spPr>
          <a:xfrm>
            <a:off x="868680" y="1005840"/>
            <a:ext cx="3474720" cy="246888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703C"/>
                </a:solidFill>
                <a:latin typeface="Calibri" pitchFamily="34" charset="0"/>
              </a:rPr>
              <a:t>What This Demo Includes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Least-privilege IAM roles per Lambda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VPC isolation for MSK and Lambda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IAM authentication for Kafka (SASL_IAM)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TLS encryption in transit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Immutable audit trail with correlation IDs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No hardcoded credentials</a:t>
            </a:r>
          </a:p>
        </p:txBody>
      </p:sp>
      <p:sp>
        <p:nvSpPr>
          <p:cNvPr id="12" name="NeedBg"/>
          <p:cNvSpPr/>
          <p:nvPr/>
        </p:nvSpPr>
        <p:spPr>
          <a:xfrm>
            <a:off x="4663440" y="1005840"/>
            <a:ext cx="3749040" cy="24688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Need"/>
          <p:cNvSpPr/>
          <p:nvPr/>
        </p:nvSpPr>
        <p:spPr>
          <a:xfrm>
            <a:off x="4800600" y="1005840"/>
            <a:ext cx="3474720" cy="246888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25444"/>
                </a:solidFill>
                <a:latin typeface="Calibri" pitchFamily="34" charset="0"/>
              </a:rPr>
              <a:t>What Production Needs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Encryption at rest (KMS for MSK, DynamoDB, S3)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API authentication (OAuth/IAM on operator API)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Rate limiting and input validation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7-year audit retention (SEC requirement)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Compliance officer sign-off and testing</a:t>
            </a:r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</a:rPr>
              <a:t>Disaster recovery and incident response</a:t>
            </a:r>
          </a:p>
        </p:txBody>
      </p:sp>
      <p:sp>
        <p:nvSpPr>
          <p:cNvPr id="14" name="Footer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</a:rPr>
              <a:t>This demo prioritizes education over production hardening. Always engage security and compliance teams before deploying trading systems.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for Your Career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188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Netflix, Uber, every major bank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risk analytics, recommendations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Managed Services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ship without managing infrastructure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108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expectation for cloud engineering roles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749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pattern for systems that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apply beyond finance: fraud detection, infrastructure monitoring,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alerting, content moderation, and anywhere anomalies need real-time response.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Involved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github.com/lukelittle/sec-15c3-5-market-access-controls-example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228600" cy="228600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011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 and run locally with Docker Compose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2 minutes, no AWS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24912"/>
            <a:ext cx="228600" cy="228600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10 exercises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926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beginner (add a kill scope) to advanced (chaos engineering)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364992"/>
            <a:ext cx="228600" cy="228600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291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dashboard, add throttling, implement multi-window detection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005072"/>
            <a:ext cx="228600" cy="228600"/>
          </a:xfrm>
          <a:prstGeom prst="ellipse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005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931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patterns to course projects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detection, event-driven responses, audit trails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nect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0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8" name="QR Background"/>
          <p:cNvSpPr/>
          <p:nvPr/>
        </p:nvSpPr>
        <p:spPr>
          <a:xfrm>
            <a:off x="3200400" y="114300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QR C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2468880" cy="2468880"/>
          </a:xfrm>
          <a:prstGeom prst="rect">
            <a:avLst/>
          </a:prstGeom>
        </p:spPr>
      </p:pic>
      <p:sp>
        <p:nvSpPr>
          <p:cNvPr id="5" name="URL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linkedin.com/in/lucaslittle</a:t>
            </a:r>
            <a:endParaRPr lang="en-US" sz="1800" dirty="0"/>
          </a:p>
        </p:txBody>
      </p:sp>
      <p:sp>
        <p:nvSpPr>
          <p:cNvPr id="6" name="Thank You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1501</Words>
  <Application>Microsoft Macintosh PowerPoint</Application>
  <PresentationFormat>On-screen Show (16:9)</PresentationFormat>
  <Paragraphs>295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Market Access Controls: SEC Rule 15c3-5</dc:title>
  <dc:subject>PptxGenJS Presentation</dc:subject>
  <dc:creator>Luke Little</dc:creator>
  <cp:lastModifiedBy>Lucas Little</cp:lastModifiedBy>
  <cp:revision>3</cp:revision>
  <dcterms:created xsi:type="dcterms:W3CDTF">2026-03-22T22:29:07Z</dcterms:created>
  <dcterms:modified xsi:type="dcterms:W3CDTF">2026-03-24T02:02:17Z</dcterms:modified>
</cp:coreProperties>
</file>