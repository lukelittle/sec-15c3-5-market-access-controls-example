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Market Access Controls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 Rule 15c3-5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Analytics, Kafka, and AWS in Practice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ITCS 6190/8190  |  Cloud Computing for Data Analysis  |  UNC Charlotte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1, 2012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Knight Capital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3200400" cy="16459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459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$440M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45 minutes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719072"/>
            <a:ext cx="164592" cy="164592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600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untested trading software to production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221992"/>
            <a:ext cx="164592" cy="164592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2103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Runaway algorithm executed millions of erroneous trades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7249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kill switch — couldn't stop all servers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322783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acquired at fire-sale price 6 months later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company that defined electronic trading was destroyed by its own technology."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Rule 15c3-5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 Access Rule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6304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Pre-trade Controls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508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must be checked before it reaches the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2402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able to immediately halt all trading from any account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92608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92608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971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&amp; Exclusive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9718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broker-dealer controls the switch — not the customer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7680960" cy="5943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657600"/>
            <a:ext cx="54864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3703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records of all controls and their operation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C2038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E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an order touches the market, something must check it. If something goes wrong, you must stop everything immediately. And you must prove you did.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0" y="868680"/>
            <a:ext cx="2286000" cy="548640"/>
          </a:xfrm>
          <a:prstGeom prst="rect">
            <a:avLst/>
          </a:prstGeom>
          <a:solidFill>
            <a:srgbClr val="232842"/>
          </a:solidFill>
          <a:ln w="1905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0" y="868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Generator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1600200"/>
            <a:ext cx="22860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1600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orders.v1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2560320" cy="640080"/>
          </a:xfrm>
          <a:prstGeom prst="rect">
            <a:avLst/>
          </a:prstGeom>
          <a:solidFill>
            <a:srgbClr val="232842"/>
          </a:solidFill>
          <a:ln w="1905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Detector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0" y="2148840"/>
            <a:ext cx="2926080" cy="640080"/>
          </a:xfrm>
          <a:prstGeom prst="rect">
            <a:avLst/>
          </a:prstGeom>
          <a:solidFill>
            <a:srgbClr val="232842"/>
          </a:solidFill>
          <a:ln w="1905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6928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Router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(enforces kill state)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201168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74320" y="3017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killswitch.commands.v1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3017520"/>
            <a:ext cx="13716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669280" y="3017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gated.v1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23760" y="3017520"/>
            <a:ext cx="13716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223760" y="3017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audit.v1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2560320" cy="548640"/>
          </a:xfrm>
          <a:prstGeom prst="rect">
            <a:avLst/>
          </a:prstGeom>
          <a:solidFill>
            <a:srgbClr val="232842"/>
          </a:solidFill>
          <a:ln w="1905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5661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Aggregator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343400"/>
            <a:ext cx="2286000" cy="320040"/>
          </a:xfrm>
          <a:prstGeom prst="rect">
            <a:avLst/>
          </a:prstGeom>
          <a:solidFill>
            <a:srgbClr val="2D3561"/>
          </a:solidFill>
          <a:ln w="12700">
            <a:solidFill>
              <a:srgbClr val="4A90D9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7432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killswitch.state.v1 (compacted)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0" y="4160520"/>
            <a:ext cx="2011680" cy="502920"/>
          </a:xfrm>
          <a:prstGeom prst="rect">
            <a:avLst/>
          </a:prstGeom>
          <a:solidFill>
            <a:srgbClr val="232842"/>
          </a:solidFill>
          <a:ln w="1905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7472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Console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/kill  /unkill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0" y="3931920"/>
            <a:ext cx="3017520" cy="91440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25" name="Text 23"/>
          <p:cNvSpPr/>
          <p:nvPr/>
        </p:nvSpPr>
        <p:spPr>
          <a:xfrm>
            <a:off x="585216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49440" y="3977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separate.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 fail independently.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43400" y="1417320"/>
            <a:ext cx="0" cy="18288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1764792"/>
            <a:ext cx="0" cy="384048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0" y="1764792"/>
            <a:ext cx="0" cy="384048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37360" y="2788920"/>
            <a:ext cx="0" cy="22860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37360" y="3337560"/>
            <a:ext cx="0" cy="22860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37360" y="4114800"/>
            <a:ext cx="0" cy="228600"/>
          </a:xfrm>
          <a:prstGeom prst="line">
            <a:avLst/>
          </a:prstGeom>
          <a:noFill/>
          <a:ln w="19050">
            <a:solidFill>
              <a:srgbClr val="718096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Event Backbone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Topics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orders.v1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9184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order stream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risk_signals.v1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metrics from Spark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killswitch.commands.v1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Kill/unkill commands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killswitch.state.v1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per scope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657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orders.gated.v1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9184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orders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audit.v1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routing decision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371600"/>
            <a:ext cx="3383280" cy="310896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Compaction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192024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9C12"/>
                </a:solidFill>
              </a:rPr>
              <a:t>Commands topic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</a:rPr>
              <a:t>Everything that ever happened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   (t=100)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UNKILL (t=200)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   (t=300)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</a:rPr>
              <a:t>State topic (compacted)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</a:rPr>
              <a:t>What's true right now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ACCT:123 → KILLED (t=300)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Structured Streaming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Windowing Does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Order Stream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3657600" cy="0"/>
          </a:xfrm>
          <a:prstGeom prst="line">
            <a:avLst/>
          </a:prstGeom>
          <a:noFill/>
          <a:ln w="12700">
            <a:solidFill>
              <a:srgbClr val="71809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25603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03120" y="25603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25603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91440" cy="914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1920240"/>
            <a:ext cx="91440" cy="914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5840" y="1645920"/>
            <a:ext cx="91440" cy="9144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" y="2194560"/>
            <a:ext cx="91440" cy="914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4" name="Shape 12"/>
          <p:cNvSpPr/>
          <p:nvPr/>
        </p:nvSpPr>
        <p:spPr>
          <a:xfrm>
            <a:off x="1280160" y="1371600"/>
            <a:ext cx="91440" cy="914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15" name="Shape 13"/>
          <p:cNvSpPr/>
          <p:nvPr/>
        </p:nvSpPr>
        <p:spPr>
          <a:xfrm>
            <a:off x="1463040" y="1828800"/>
            <a:ext cx="91440" cy="914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480" y="1554480"/>
            <a:ext cx="91440" cy="914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7360" y="2103120"/>
            <a:ext cx="91440" cy="9144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28800" y="1737360"/>
            <a:ext cx="91440" cy="914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9" name="Shape 17"/>
          <p:cNvSpPr/>
          <p:nvPr/>
        </p:nvSpPr>
        <p:spPr>
          <a:xfrm>
            <a:off x="2011680" y="1463040"/>
            <a:ext cx="91440" cy="914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2103120" y="2011680"/>
            <a:ext cx="91440" cy="914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1" name="Shape 19"/>
          <p:cNvSpPr/>
          <p:nvPr/>
        </p:nvSpPr>
        <p:spPr>
          <a:xfrm>
            <a:off x="2286000" y="2286000"/>
            <a:ext cx="91440" cy="914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1645920"/>
            <a:ext cx="91440" cy="9144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560320" y="1920240"/>
            <a:ext cx="91440" cy="914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4" name="Shape 22"/>
          <p:cNvSpPr/>
          <p:nvPr/>
        </p:nvSpPr>
        <p:spPr>
          <a:xfrm>
            <a:off x="2651760" y="1371600"/>
            <a:ext cx="91440" cy="914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5" name="Shape 23"/>
          <p:cNvSpPr/>
          <p:nvPr/>
        </p:nvSpPr>
        <p:spPr>
          <a:xfrm>
            <a:off x="2834640" y="2194560"/>
            <a:ext cx="91440" cy="914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6" name="Shape 24"/>
          <p:cNvSpPr/>
          <p:nvPr/>
        </p:nvSpPr>
        <p:spPr>
          <a:xfrm>
            <a:off x="2926080" y="1554480"/>
            <a:ext cx="91440" cy="914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7" name="Shape 25"/>
          <p:cNvSpPr/>
          <p:nvPr/>
        </p:nvSpPr>
        <p:spPr>
          <a:xfrm>
            <a:off x="3017520" y="1828800"/>
            <a:ext cx="91440" cy="9144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0" y="2103120"/>
            <a:ext cx="91440" cy="914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1463040"/>
            <a:ext cx="91440" cy="914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30" name="Shape 28"/>
          <p:cNvSpPr/>
          <p:nvPr/>
        </p:nvSpPr>
        <p:spPr>
          <a:xfrm>
            <a:off x="3383280" y="2286000"/>
            <a:ext cx="91440" cy="914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31" name="Shape 29"/>
          <p:cNvSpPr/>
          <p:nvPr/>
        </p:nvSpPr>
        <p:spPr>
          <a:xfrm>
            <a:off x="3566160" y="1737360"/>
            <a:ext cx="91440" cy="914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2" name="Shape 30"/>
          <p:cNvSpPr/>
          <p:nvPr/>
        </p:nvSpPr>
        <p:spPr>
          <a:xfrm>
            <a:off x="3657600" y="2011680"/>
            <a:ext cx="91440" cy="9144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33" name="Shape 31"/>
          <p:cNvSpPr/>
          <p:nvPr/>
        </p:nvSpPr>
        <p:spPr>
          <a:xfrm>
            <a:off x="3840480" y="1645920"/>
            <a:ext cx="91440" cy="914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4" name="Shape 32"/>
          <p:cNvSpPr/>
          <p:nvPr/>
        </p:nvSpPr>
        <p:spPr>
          <a:xfrm>
            <a:off x="3931920" y="1920240"/>
            <a:ext cx="91440" cy="9144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28346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orders — hard to see patterns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148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4023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54880" y="1005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Risk Signals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846320" y="1371600"/>
            <a:ext cx="3840480" cy="640080"/>
          </a:xfrm>
          <a:prstGeom prst="rect">
            <a:avLst/>
          </a:prstGeom>
          <a:solidFill>
            <a:srgbClr val="232842"/>
          </a:solidFill>
          <a:ln w="25400">
            <a:solidFill>
              <a:srgbClr val="27AE6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 12345  |  :00–:60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498080" y="1371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2920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orders  |  $48K  |  4 symbols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46320" y="2148840"/>
            <a:ext cx="3840480" cy="640080"/>
          </a:xfrm>
          <a:prstGeom prst="rect">
            <a:avLst/>
          </a:prstGeom>
          <a:solidFill>
            <a:srgbClr val="2A1520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 67890  |  :00–:60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49808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147 orders  |  $1.2M  |  92% AAPL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846320" y="2926080"/>
            <a:ext cx="3840480" cy="640080"/>
          </a:xfrm>
          <a:prstGeom prst="rect">
            <a:avLst/>
          </a:prstGeom>
          <a:solidFill>
            <a:srgbClr val="232842"/>
          </a:solidFill>
          <a:ln w="25400">
            <a:solidFill>
              <a:srgbClr val="27AE6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0" y="2926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Acct 54321  |  :00–:60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498080" y="29260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29200" y="3246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orders  |  $22K  |  3 symbols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754880" y="36576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summary per account per 60 seconds — breaches trigger automatic KILL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65760" y="4069080"/>
            <a:ext cx="8412480" cy="91440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53" name="Text 51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.groupBy(</a:t>
            </a:r>
            <a:pPr indent="0" marL="0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window(event_time, '60 seconds')</a:t>
            </a:r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account_id</a:t>
            </a:r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).agg(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count(*), sum(notional), collect_list(symbol)</a:t>
            </a:r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chaos in → structured risk signals out → automatic action on breach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Thresholds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9601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9601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34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100 orders / 60s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0" y="1280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40480" y="1645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Runaway algorithm sending orders faster than any human could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7680960" cy="9601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331720"/>
            <a:ext cx="54864" cy="9601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377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$1M / 60s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84048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Notional Value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2788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dollar exposure accumulating too quickly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9601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474720"/>
            <a:ext cx="54864" cy="9601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5204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70% one symbol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84048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840480" y="3931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Hammering a single stock — broken algo or manipulation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74C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Knight Capital would have tripped all three within seconds.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Kill Switch Lifecycle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822960" cy="822960"/>
          </a:xfrm>
          <a:prstGeom prst="ellipse">
            <a:avLst/>
          </a:prstGeom>
          <a:solidFill>
            <a:srgbClr val="27AE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46304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flowing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0" y="1371600"/>
            <a:ext cx="822960" cy="822960"/>
          </a:xfrm>
          <a:prstGeom prst="ellipse">
            <a:avLst/>
          </a:prstGeom>
          <a:solidFill>
            <a:srgbClr val="F39C1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88036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detects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822960" cy="822960"/>
          </a:xfrm>
          <a:prstGeom prst="ellipse">
            <a:avLst/>
          </a:prstGeom>
          <a:solidFill>
            <a:srgbClr val="E74C3C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2900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emitted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371600"/>
            <a:ext cx="822960" cy="822960"/>
          </a:xfrm>
          <a:prstGeom prst="ellipse">
            <a:avLst/>
          </a:prstGeom>
          <a:solidFill>
            <a:srgbClr val="E74C3C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4632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71500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1772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dropped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371600"/>
            <a:ext cx="822960" cy="822960"/>
          </a:xfrm>
          <a:prstGeom prst="ellipse">
            <a:avLst/>
          </a:prstGeom>
          <a:solidFill>
            <a:srgbClr val="4A90D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132320" y="1783080"/>
            <a:ext cx="320040" cy="0"/>
          </a:xfrm>
          <a:prstGeom prst="line">
            <a:avLst/>
          </a:prstGeom>
          <a:noFill/>
          <a:ln w="25400">
            <a:solidFill>
              <a:srgbClr val="7180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3504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checks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80960" y="1371600"/>
            <a:ext cx="822960" cy="822960"/>
          </a:xfrm>
          <a:prstGeom prst="ellipse">
            <a:avLst/>
          </a:prstGeom>
          <a:solidFill>
            <a:srgbClr val="27AE6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452360" y="2377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UNKILL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5236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restored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" y="3291840"/>
            <a:ext cx="3474720" cy="8229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3291840"/>
            <a:ext cx="54864" cy="82296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5" name="Text 33"/>
          <p:cNvSpPr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detection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triggers the kill switch — no human in the loop for detection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91840"/>
            <a:ext cx="3474720" cy="82296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37" name="Shape 35"/>
          <p:cNvSpPr/>
          <p:nvPr/>
        </p:nvSpPr>
        <p:spPr>
          <a:xfrm>
            <a:off x="4937760" y="3291840"/>
            <a:ext cx="54864" cy="8229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8" name="Text 36"/>
          <p:cNvSpPr/>
          <p:nvPr/>
        </p:nvSpPr>
        <p:spPr>
          <a:xfrm>
            <a:off x="521208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recovery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must review and explicitly restore access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audited with correlation IDs for full traceability.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AWS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97280"/>
            <a:ext cx="54864" cy="5029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 Serverless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097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without managing brokers, ZooKeeper, storage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37360"/>
            <a:ext cx="54864" cy="5029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737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Serverless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17373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without managing clusters. Submit a job, it scales.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377440"/>
            <a:ext cx="54864" cy="5029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servers. No patching, no capacity planning.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01752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3017520"/>
            <a:ext cx="54864" cy="5029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0175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key-value lookups. On-demand pricing.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657600"/>
            <a:ext cx="54864" cy="50292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657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3657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 in one line of Terraform.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286000" y="4206240"/>
            <a:ext cx="4572000" cy="64008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286000" y="4206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Entire system runs for ~$5/hour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200400" y="2468880"/>
            <a:ext cx="2743200" cy="36576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0AE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see it in action.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It Locally in 2 Minutes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github.com/lukelittle/sec-15c3-5-market-access-controls-example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sec-15c3-5-market-access-controls-example/local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--build -d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That's it. Kafka, Spark, all 4 services, Kafka UI.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7680960" cy="41148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AKHQ (Kafka UI)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3108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localhost:8080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0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all topics and messages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611880"/>
            <a:ext cx="7680960" cy="41148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11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Console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kill/unkill 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114800"/>
            <a:ext cx="7680960" cy="41148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Risk Detector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0040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(background)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4114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anomalies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$0. Requires: Docker. That's it.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Terraform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657600" cy="2560320"/>
          </a:xfrm>
          <a:prstGeom prst="rect">
            <a:avLst/>
          </a:prstGeom>
          <a:solidFill>
            <a:srgbClr val="23284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54864" cy="25603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Terraform?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8288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infrastructure in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terraform apply to create it 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terraform destroy to tear it down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version-controlled, reviewable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clicking through AWS console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256032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4630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project's modules: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terraform/modules/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vpc/          # Network isolation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msk/          # Kafka cluster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lambdas/      # 4 functions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emr_serverless/ # Spark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dynamodb/     # State + audit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api_gateway/  # HTTP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cloudwatch/   # Monitoring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iam/          # Permissions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modules, ~2,000 lines of HCL. One command to deploy. One command to destroy.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applying for cloud or platform engineering roles, Terraform is on every job listing.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Deploying to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solidFill>
            <a:srgbClr val="171B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make build               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terraform/envs/dev    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terraform init &amp;&amp; terraform apply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Wait 15-20 min. Done.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 cost?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063240"/>
            <a:ext cx="7680960" cy="347472"/>
          </a:xfrm>
          <a:prstGeom prst="rect">
            <a:avLst/>
          </a:prstGeom>
          <a:solidFill>
            <a:srgbClr val="2D356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63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0632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Cost/hour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7680960" cy="347472"/>
          </a:xfrm>
          <a:prstGeom prst="rect">
            <a:avLst/>
          </a:prstGeom>
          <a:solidFill>
            <a:srgbClr val="0F1225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429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 Serverless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0" y="34290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Kafka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3429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$2-3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7680960" cy="347472"/>
          </a:xfrm>
          <a:prstGeom prst="rect">
            <a:avLst/>
          </a:prstGeom>
          <a:solidFill>
            <a:srgbClr val="0F1225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94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Serverless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3794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Spark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37947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$1-2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160520"/>
            <a:ext cx="7680960" cy="347472"/>
          </a:xfrm>
          <a:prstGeom prst="rect">
            <a:avLst/>
          </a:prstGeom>
          <a:solidFill>
            <a:srgbClr val="0F1225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+ DynamoDB + S3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0" y="41605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storage, cache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4160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~$0.50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526280"/>
            <a:ext cx="7680960" cy="347472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0" y="45262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526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$4-6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before class. terraform destroy after. A 1-hour demo costs less than a coffee.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for Your Career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188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LinkedIn, Netflix, Uber, every major bank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Streaming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detection, risk analytics, recommendations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Managed Services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teams ship without managing infrastructure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108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expectation for cloud engineering roles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Architecture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3749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pattern for systems that scale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patterns apply beyond finance: fraud detection, infrastructure monitoring,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alerting, content moderation, and anywhere anomalies need real-time response.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Involved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23284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github.com/lukelittle/sec-15c3-5-market-access-controls-example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08483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848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run locally with Docker Compose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2860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2 minutes, no AWS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72491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249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26517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10 exercises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beginner (add a kill scope) to advanced (chaos engineering)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6499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3649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2918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5661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dashboard, add throttling, implement multi-window detection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005072"/>
            <a:ext cx="228600" cy="2286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00507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80160" y="3931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patterns to your course project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2062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detection, event-driven responses, audit trails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Market Access Controls: SEC Rule 15c3-5</dc:title>
  <dc:subject>PptxGenJS Presentation</dc:subject>
  <dc:creator>Luke Little</dc:creator>
  <cp:lastModifiedBy>Luke Little</cp:lastModifiedBy>
  <cp:revision>1</cp:revision>
  <dcterms:created xsi:type="dcterms:W3CDTF">2026-03-23T22:39:50Z</dcterms:created>
  <dcterms:modified xsi:type="dcterms:W3CDTF">2026-03-23T22:39:50Z</dcterms:modified>
</cp:coreProperties>
</file>