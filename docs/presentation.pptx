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71" r:id="rId3"/>
    <p:sldId id="257" r:id="rId4"/>
    <p:sldId id="258" r:id="rId5"/>
    <p:sldId id="259" r:id="rId6"/>
    <p:sldId id="273" r:id="rId7"/>
    <p:sldId id="260" r:id="rId8"/>
    <p:sldId id="261" r:id="rId9"/>
    <p:sldId id="279" r:id="rId10"/>
    <p:sldId id="262" r:id="rId11"/>
    <p:sldId id="263" r:id="rId12"/>
    <p:sldId id="264" r:id="rId13"/>
    <p:sldId id="280" r:id="rId14"/>
    <p:sldId id="282" r:id="rId15"/>
    <p:sldId id="274" r:id="rId16"/>
    <p:sldId id="265" r:id="rId17"/>
    <p:sldId id="266" r:id="rId18"/>
    <p:sldId id="267" r:id="rId19"/>
    <p:sldId id="268" r:id="rId20"/>
    <p:sldId id="283" r:id="rId21"/>
    <p:sldId id="277" r:id="rId22"/>
    <p:sldId id="269" r:id="rId23"/>
    <p:sldId id="270" r:id="rId24"/>
    <p:sldId id="272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5481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9B7C-FE14-A137-5854-92220FC31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6A4094-993D-B3C4-1CCA-328D42E22C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3FB2C-C75A-5925-6326-A6170791A3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61630-7F41-D493-4E03-6BC949DE2F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241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BD88-33DA-50CC-B86F-70B2F2C6B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E5A7D8-1F24-A979-F2A6-C32C486A3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ED909-7C8B-644F-1D59-75B3503F52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40C1D-DBAF-ECD9-F278-B423F0A5E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781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E3340-099A-B437-D1E2-0E7701395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E9B2D7-820B-154A-9A2E-2C5E57BFB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686B1-8B57-C265-871E-B0F181CFD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5D907-FC18-8BE6-BEB9-4DA33FD065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53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Market Access Controls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7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 Rule 15c3-5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Analytics, Kafka, and AWS in Practice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 Me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Name"/>
          <p:cNvSpPr/>
          <p:nvPr/>
        </p:nvSpPr>
        <p:spPr>
          <a:xfrm>
            <a:off x="731520" y="18669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Lucas Little</a:t>
            </a:r>
            <a:endParaRPr lang="en-US" sz="2800" dirty="0"/>
          </a:p>
        </p:txBody>
      </p:sp>
      <p:sp>
        <p:nvSpPr>
          <p:cNvPr id="4" name="Title"/>
          <p:cNvSpPr/>
          <p:nvPr/>
        </p:nvSpPr>
        <p:spPr>
          <a:xfrm>
            <a:off x="731520" y="2506980"/>
            <a:ext cx="463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Intelligent Data &amp; Cloud  |  Ippon Technologies</a:t>
            </a:r>
            <a:endParaRPr lang="en-US" sz="1600" dirty="0"/>
          </a:p>
        </p:txBody>
      </p:sp>
      <p:sp>
        <p:nvSpPr>
          <p:cNvPr id="5" name="Divider"/>
          <p:cNvSpPr/>
          <p:nvPr/>
        </p:nvSpPr>
        <p:spPr>
          <a:xfrm>
            <a:off x="731520" y="3055620"/>
            <a:ext cx="2743200" cy="27432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xperience Details"/>
          <p:cNvSpPr/>
          <p:nvPr/>
        </p:nvSpPr>
        <p:spPr>
          <a:xfrm>
            <a:off x="731520" y="3604260"/>
            <a:ext cx="3657600" cy="1431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Ally Invest, Vanguard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Certification SME (2019–2024)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 Charlotte Class of 2009</a:t>
            </a:r>
            <a:b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400" dirty="0">
              <a:solidFill>
                <a:srgbClr val="A0AEC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B8CB95-42BF-2709-4ECE-126F5370AC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14" t="22866" r="13465" b="22256"/>
          <a:stretch>
            <a:fillRect/>
          </a:stretch>
        </p:blipFill>
        <p:spPr>
          <a:xfrm>
            <a:off x="6163311" y="2023110"/>
            <a:ext cx="1831337" cy="1832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1, 2012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Knight Capital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3200400" cy="164592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$440M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45 minutes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719072"/>
            <a:ext cx="164592" cy="164592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1600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untested trading software to production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221992"/>
            <a:ext cx="164592" cy="164592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Runaway algorithm executed millions of erroneous trades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7249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kill switch — couldn't stop all servers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322783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0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acquired at fire-sale price 6 months later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company that defined electronic trading was destroyed by its own technology."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Rule 15c3-5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 Access Rule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5943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54864" cy="59436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Pre-trade Controls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508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must be checked before it reaches the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7680960" cy="5943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2402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able to immediately halt all trading from any account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7680960" cy="5943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54864" cy="59436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2971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&amp; Exclusive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9718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broker-dealer controls the switch — not the customer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7680960" cy="5943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" y="3657600"/>
            <a:ext cx="54864" cy="59436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0584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3703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records of all controls and their operation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C20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0AE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an order touches the market, something must check it. If something goes wrong, you must stop everything immediately. And you must prove you did.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245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16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3F20B2D-D051-2168-BB5C-2724722B1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860" y="279746"/>
            <a:ext cx="4671060" cy="47418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-to-End Order Flow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731520" y="1371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</a:rPr>
              <a:t>End-to-End Order Flow</a:t>
            </a:r>
          </a:p>
        </p:txBody>
      </p:sp>
      <p:sp>
        <p:nvSpPr>
          <p:cNvPr id="10" name="Step1Bg"/>
          <p:cNvSpPr/>
          <p:nvPr/>
        </p:nvSpPr>
        <p:spPr>
          <a:xfrm>
            <a:off x="731520" y="868680"/>
            <a:ext cx="246888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tep1"/>
          <p:cNvSpPr/>
          <p:nvPr/>
        </p:nvSpPr>
        <p:spPr>
          <a:xfrm>
            <a:off x="868680" y="868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</a:rPr>
              <a:t>1  Order Generated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Lambda produces order → orders.v1</a:t>
            </a:r>
          </a:p>
        </p:txBody>
      </p:sp>
      <p:sp>
        <p:nvSpPr>
          <p:cNvPr id="12" name="Step2Bg"/>
          <p:cNvSpPr/>
          <p:nvPr/>
        </p:nvSpPr>
        <p:spPr>
          <a:xfrm>
            <a:off x="3383280" y="868680"/>
            <a:ext cx="246888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tep2"/>
          <p:cNvSpPr/>
          <p:nvPr/>
        </p:nvSpPr>
        <p:spPr>
          <a:xfrm>
            <a:off x="3520440" y="868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</a:rPr>
              <a:t>2  Spark Analyzes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60s window → risk_signals.v1</a:t>
            </a:r>
          </a:p>
        </p:txBody>
      </p:sp>
      <p:sp>
        <p:nvSpPr>
          <p:cNvPr id="14" name="Step3Bg"/>
          <p:cNvSpPr/>
          <p:nvPr/>
        </p:nvSpPr>
        <p:spPr>
          <a:xfrm>
            <a:off x="6035040" y="868680"/>
            <a:ext cx="246888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tep3"/>
          <p:cNvSpPr/>
          <p:nvPr/>
        </p:nvSpPr>
        <p:spPr>
          <a:xfrm>
            <a:off x="6172200" y="868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</a:rPr>
              <a:t>3  Breach Detected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Spark emits → killswitch.commands.v1</a:t>
            </a:r>
          </a:p>
        </p:txBody>
      </p:sp>
      <p:sp>
        <p:nvSpPr>
          <p:cNvPr id="16" name="Step4Bg"/>
          <p:cNvSpPr/>
          <p:nvPr/>
        </p:nvSpPr>
        <p:spPr>
          <a:xfrm>
            <a:off x="731520" y="1691640"/>
            <a:ext cx="246888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tep4"/>
          <p:cNvSpPr/>
          <p:nvPr/>
        </p:nvSpPr>
        <p:spPr>
          <a:xfrm>
            <a:off x="86868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</a:rPr>
              <a:t>4  State Updated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Aggregator → killswitch.state.v1 (compacted)</a:t>
            </a:r>
          </a:p>
        </p:txBody>
      </p:sp>
      <p:sp>
        <p:nvSpPr>
          <p:cNvPr id="18" name="Step5Bg"/>
          <p:cNvSpPr/>
          <p:nvPr/>
        </p:nvSpPr>
        <p:spPr>
          <a:xfrm>
            <a:off x="3383280" y="1691640"/>
            <a:ext cx="246888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tep5"/>
          <p:cNvSpPr/>
          <p:nvPr/>
        </p:nvSpPr>
        <p:spPr>
          <a:xfrm>
            <a:off x="35204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</a:rPr>
              <a:t>5  Order Dropped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Router checks state, drops → audit.v1</a:t>
            </a:r>
          </a:p>
        </p:txBody>
      </p:sp>
      <p:sp>
        <p:nvSpPr>
          <p:cNvPr id="20" name="Step6Bg"/>
          <p:cNvSpPr/>
          <p:nvPr/>
        </p:nvSpPr>
        <p:spPr>
          <a:xfrm>
            <a:off x="6035040" y="1691640"/>
            <a:ext cx="246888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tep6"/>
          <p:cNvSpPr/>
          <p:nvPr/>
        </p:nvSpPr>
        <p:spPr>
          <a:xfrm>
            <a:off x="617220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</a:rPr>
              <a:t>6  Operator Reviews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Human unkills → orders flow again</a:t>
            </a:r>
          </a:p>
        </p:txBody>
      </p:sp>
      <p:sp>
        <p:nvSpPr>
          <p:cNvPr id="22" name="FooterBg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Footer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lIns="137160" tIns="0" rIns="13716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</a:rPr>
              <a:t>Every step tracked by correlation ID  —  6 Kafka topics  —  Full audit trail from order to enforcement</a:t>
            </a:r>
          </a:p>
        </p:txBody>
      </p:sp>
      <p:sp>
        <p:nvSpPr>
          <p:cNvPr id="24" name="Scopes"/>
          <p:cNvSpPr/>
          <p:nvPr/>
        </p:nvSpPr>
        <p:spPr>
          <a:xfrm>
            <a:off x="731520" y="33832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Kill Switch Scopes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</a:rPr>
              <a:t>GLOBAL stops everything  |  ACCOUNT:12345 stops one account  |  SYMBOL:AAPL stops one stock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Event Backbone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Topics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orders.v1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9184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order stream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risk_signals.v1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metrics from Spark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killswitch.commands.v1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Kill/unkill commands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killswitch.state.v1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per scope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657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orders.gated.v1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9184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orders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audit.v1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routing decision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371600"/>
            <a:ext cx="3383280" cy="310896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Compaction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192024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9C12"/>
                </a:solidFill>
              </a:rPr>
              <a:t>Commands topic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</a:rPr>
              <a:t>Everything that ever happened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   (t=100)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UNKILL (t=200)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   (t=300)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</a:rPr>
              <a:t>State topic (compacted)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</a:rPr>
              <a:t>What's true right now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KILLED (t=300)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Structured Streaming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Detection with Windowing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60-Second Tumbling Windows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60320" cy="914400"/>
          </a:xfrm>
          <a:prstGeom prst="rect">
            <a:avLst/>
          </a:prstGeom>
          <a:solidFill>
            <a:srgbClr val="1A1A1A"/>
          </a:solidFill>
          <a:ln w="25400">
            <a:solidFill>
              <a:srgbClr val="0070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 – :60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09728" cy="109728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234440" y="2286000"/>
            <a:ext cx="109728" cy="109728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54480" y="2286000"/>
            <a:ext cx="109728" cy="109728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74520" y="2286000"/>
            <a:ext cx="109728" cy="109728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194560" y="2286000"/>
            <a:ext cx="109728" cy="109728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74720" y="1828800"/>
            <a:ext cx="2560320" cy="914400"/>
          </a:xfrm>
          <a:prstGeom prst="rect">
            <a:avLst/>
          </a:prstGeom>
          <a:solidFill>
            <a:srgbClr val="1A1A1A"/>
          </a:solidFill>
          <a:ln w="254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 – :60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97764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29768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1772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3776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25780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577840" y="22860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0" y="2514600"/>
            <a:ext cx="109728" cy="1097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17920" y="1828800"/>
            <a:ext cx="2560320" cy="914400"/>
          </a:xfrm>
          <a:prstGeom prst="rect">
            <a:avLst/>
          </a:prstGeom>
          <a:solidFill>
            <a:srgbClr val="1A1A1A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 – :60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4088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36092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68096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0100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321040" y="22860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40080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72084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04088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360920" y="2514600"/>
            <a:ext cx="109728" cy="109728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31520" y="3017520"/>
            <a:ext cx="7680960" cy="1645920"/>
          </a:xfrm>
          <a:prstGeom prst="rect">
            <a:avLst/>
          </a:prstGeom>
          <a:solidFill>
            <a:srgbClr val="17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14400" y="31089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orders_df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.withWatermark("event_time", "60 seconds")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.groupBy(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window(event_time, '60 seconds'),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account_id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.agg(count(*), sum(notional), collect_list(symbol))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 Pipeline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25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731520" y="137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</a:rPr>
              <a:t>The Detection Pipeline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548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</a:rPr>
              <a:t>From raw orders to kill commands — the actual code</a:t>
            </a:r>
          </a:p>
        </p:txBody>
      </p:sp>
      <p:sp>
        <p:nvSpPr>
          <p:cNvPr id="10" name="S1Bg"/>
          <p:cNvSpPr/>
          <p:nvPr/>
        </p:nvSpPr>
        <p:spPr>
          <a:xfrm>
            <a:off x="731520" y="960120"/>
            <a:ext cx="2651760" cy="28727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1"/>
          <p:cNvSpPr/>
          <p:nvPr/>
        </p:nvSpPr>
        <p:spPr>
          <a:xfrm>
            <a:off x="868680" y="960120"/>
            <a:ext cx="2377440" cy="2743200"/>
          </a:xfrm>
          <a:prstGeom prst="rect">
            <a:avLst/>
          </a:prstGeom>
          <a:noFill/>
          <a:ln/>
        </p:spPr>
        <p:txBody>
          <a:bodyPr wrap="square" lIns="91440" tIns="9144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703C"/>
                </a:solidFill>
                <a:latin typeface="Calibri" pitchFamily="34" charset="0"/>
              </a:rPr>
              <a:t>1  Aggregate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00703C"/>
                </a:solidFill>
                <a:latin typeface="Consolas" pitchFamily="34" charset="0"/>
              </a:rPr>
              <a:t>compute_risk_signals()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Per account, per 60s window: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count(*)           → order_count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sum(notional)      → total_notional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collect_list(sym)  → concentration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</a:rPr>
              <a:t>Single aggregation pass — no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</a:rPr>
              <a:t>stream-stream joins needed.</a:t>
            </a:r>
          </a:p>
        </p:txBody>
      </p:sp>
      <p:sp>
        <p:nvSpPr>
          <p:cNvPr id="12" name="S2Bg"/>
          <p:cNvSpPr/>
          <p:nvPr/>
        </p:nvSpPr>
        <p:spPr>
          <a:xfrm>
            <a:off x="3520440" y="960120"/>
            <a:ext cx="2651760" cy="28727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2"/>
          <p:cNvSpPr/>
          <p:nvPr/>
        </p:nvSpPr>
        <p:spPr>
          <a:xfrm>
            <a:off x="3657600" y="960120"/>
            <a:ext cx="2377440" cy="2743200"/>
          </a:xfrm>
          <a:prstGeom prst="rect">
            <a:avLst/>
          </a:prstGeom>
          <a:noFill/>
          <a:ln/>
        </p:spPr>
        <p:txBody>
          <a:bodyPr wrap="square" lIns="91440" tIns="9144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25444"/>
                </a:solidFill>
                <a:latin typeface="Calibri" pitchFamily="34" charset="0"/>
              </a:rPr>
              <a:t>2  Detect Breaches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E25444"/>
                </a:solidFill>
                <a:latin typeface="Consolas" pitchFamily="34" charset="0"/>
              </a:rPr>
              <a:t>detect_threshold_breaches()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Three boolean checks: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order_count &gt; 100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total_notional &gt; $1M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top_symbol_share &gt; 70%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</a:rPr>
              <a:t>Filter: keep only rows where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</a:rPr>
              <a:t>at least one breach is True.</a:t>
            </a:r>
          </a:p>
        </p:txBody>
      </p:sp>
      <p:sp>
        <p:nvSpPr>
          <p:cNvPr id="14" name="S3Bg"/>
          <p:cNvSpPr/>
          <p:nvPr/>
        </p:nvSpPr>
        <p:spPr>
          <a:xfrm>
            <a:off x="6309360" y="960120"/>
            <a:ext cx="2194560" cy="28727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3"/>
          <p:cNvSpPr/>
          <p:nvPr/>
        </p:nvSpPr>
        <p:spPr>
          <a:xfrm>
            <a:off x="6446520" y="960120"/>
            <a:ext cx="1920240" cy="2743200"/>
          </a:xfrm>
          <a:prstGeom prst="rect">
            <a:avLst/>
          </a:prstGeom>
          <a:noFill/>
          <a:ln/>
        </p:spPr>
        <p:txBody>
          <a:bodyPr wrap="square" lIns="91440" tIns="9144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</a:rPr>
              <a:t>3  Emit Kill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F5A623"/>
                </a:solidFill>
                <a:latin typeface="Consolas" pitchFamily="34" charset="0"/>
              </a:rPr>
              <a:t>write_kill_commands()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Build command with: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scope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reason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metric + value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</a:rPr>
              <a:t>  corr_id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</a:rPr>
              <a:t>Write to Kafka as JSON.</a:t>
            </a:r>
          </a:p>
        </p:txBody>
      </p:sp>
      <p:sp>
        <p:nvSpPr>
          <p:cNvPr id="30" name="Footer"/>
          <p:cNvSpPr/>
          <p:nvPr/>
        </p:nvSpPr>
        <p:spPr>
          <a:xfrm>
            <a:off x="731520" y="3886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</a:rPr>
              <a:t>All thresholds are configurable via Terraform variables. The entire pipeline is a single Spark Structured Streaming job with two output sinks (risk_signals.v1 and killswitch.commands.v1).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Thresholds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96012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54864" cy="9601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34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100 orders / 60s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0" y="1280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1645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Runaway algorithm sending orders faster than any human could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7680960" cy="96012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331720"/>
            <a:ext cx="54864" cy="9601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377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$1M / 60s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84048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Notional Value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2788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dollar exposure accumulating too quickly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96012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474720"/>
            <a:ext cx="54864" cy="96012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520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70% one symbol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84048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840480" y="3931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Hammering a single stock — broken algo or manipulation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Knight Capital would have tripped all three within seconds.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Kill Switch Lifecycle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822960" cy="822960"/>
          </a:xfrm>
          <a:prstGeom prst="ellipse">
            <a:avLst/>
          </a:prstGeom>
          <a:solidFill>
            <a:srgbClr val="27AE6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46304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flowing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0" y="1371600"/>
            <a:ext cx="822960" cy="822960"/>
          </a:xfrm>
          <a:prstGeom prst="ellipse">
            <a:avLst/>
          </a:prstGeom>
          <a:solidFill>
            <a:srgbClr val="F39C12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1168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88036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78308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detects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822960" cy="822960"/>
          </a:xfrm>
          <a:prstGeom prst="ellipse">
            <a:avLst/>
          </a:prstGeom>
          <a:solidFill>
            <a:srgbClr val="E74C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2900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emitted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371600"/>
            <a:ext cx="822960" cy="822960"/>
          </a:xfrm>
          <a:prstGeom prst="ellipse">
            <a:avLst/>
          </a:prstGeom>
          <a:solidFill>
            <a:srgbClr val="E74C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71500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177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1772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dropped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371600"/>
            <a:ext cx="822960" cy="822960"/>
          </a:xfrm>
          <a:prstGeom prst="ellipse">
            <a:avLst/>
          </a:prstGeom>
          <a:solidFill>
            <a:srgbClr val="0070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63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13232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3504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3504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checks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80960" y="1371600"/>
            <a:ext cx="822960" cy="822960"/>
          </a:xfrm>
          <a:prstGeom prst="ellipse">
            <a:avLst/>
          </a:prstGeom>
          <a:solidFill>
            <a:srgbClr val="27AE6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6809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45236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UNKILL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5236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restored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3291840"/>
            <a:ext cx="3474720" cy="8229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31520" y="3291840"/>
            <a:ext cx="54864" cy="82296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detection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triggers the kill switch — no human in the loop for detection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91840"/>
            <a:ext cx="3474720" cy="8229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937760" y="3291840"/>
            <a:ext cx="54864" cy="82296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21208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recovery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must review and explicitly restore access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audited with correlation IDs for full traceability.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AWS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54864" cy="50292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 Serverless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without managing brokers, ZooKeeper, storage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737360"/>
            <a:ext cx="54864" cy="5029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737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Serverless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17373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without managing clusters. Submit a job, it scales.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377440"/>
            <a:ext cx="54864" cy="50292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servers. No patching, no capacity planning.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01752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017520"/>
            <a:ext cx="54864" cy="5029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017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key-value lookups. On-demand pricing.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54864" cy="50292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05840" y="3657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3657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 in one line of Terraform.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C7BD8-3F7D-D71D-3A14-2B5769B1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63A78D-C0C5-F398-F111-1F4A3BE40017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BE13FD4-5694-1DC2-D098-CF6DC950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024128"/>
            <a:ext cx="6675120" cy="3681910"/>
          </a:xfrm>
          <a:prstGeom prst="rect">
            <a:avLst/>
          </a:prstGeom>
        </p:spPr>
      </p:pic>
      <p:sp>
        <p:nvSpPr>
          <p:cNvPr id="26" name="Text 1">
            <a:extLst>
              <a:ext uri="{FF2B5EF4-FFF2-40B4-BE49-F238E27FC236}">
                <a16:creationId xmlns:a16="http://schemas.microsoft.com/office/drawing/2014/main" id="{70F0FF75-590F-4607-FCE2-848820FBFA12}"/>
              </a:ext>
            </a:extLst>
          </p:cNvPr>
          <p:cNvSpPr/>
          <p:nvPr/>
        </p:nvSpPr>
        <p:spPr>
          <a:xfrm>
            <a:off x="487680" y="219456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EMR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1433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C0D6C-9D66-D96C-6778-1D5B4E14B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31DD295-30BE-1A7D-639D-A2D048506AA7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21797732-B850-0033-1E31-50931DC138AA}"/>
              </a:ext>
            </a:extLst>
          </p:cNvPr>
          <p:cNvSpPr/>
          <p:nvPr/>
        </p:nvSpPr>
        <p:spPr>
          <a:xfrm>
            <a:off x="487680" y="219456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MSK</a:t>
            </a:r>
            <a:endParaRPr lang="en-US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B89158-84D5-F3CE-D2F5-16520131A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55597"/>
            <a:ext cx="7772400" cy="396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425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WS Meets the Rule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731520" y="1371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</a:rPr>
              <a:t>How AWS Addresses SEC 15c3-5</a:t>
            </a:r>
          </a:p>
        </p:txBody>
      </p:sp>
      <p:sp>
        <p:nvSpPr>
          <p:cNvPr id="4" name="Subtitle"/>
          <p:cNvSpPr/>
          <p:nvPr/>
        </p:nvSpPr>
        <p:spPr>
          <a:xfrm>
            <a:off x="731520" y="685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</a:rPr>
              <a:t>Mapping each regulatory requirement to AWS services</a:t>
            </a:r>
          </a:p>
        </p:txBody>
      </p:sp>
      <p:sp>
        <p:nvSpPr>
          <p:cNvPr id="10" name="Req10_bg"/>
          <p:cNvSpPr/>
          <p:nvPr/>
        </p:nvSpPr>
        <p:spPr>
          <a:xfrm>
            <a:off x="731520" y="1051560"/>
            <a:ext cx="768096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Req10_border"/>
          <p:cNvSpPr/>
          <p:nvPr/>
        </p:nvSpPr>
        <p:spPr>
          <a:xfrm>
            <a:off x="731520" y="1051560"/>
            <a:ext cx="45720" cy="640080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ReqText10"/>
          <p:cNvSpPr/>
          <p:nvPr/>
        </p:nvSpPr>
        <p:spPr>
          <a:xfrm>
            <a:off x="914400" y="1051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Pre-Trade Controls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Every order checked in real-time before execution</a:t>
            </a:r>
          </a:p>
        </p:txBody>
      </p:sp>
      <p:sp>
        <p:nvSpPr>
          <p:cNvPr id="13" name="ReqSvc10"/>
          <p:cNvSpPr/>
          <p:nvPr/>
        </p:nvSpPr>
        <p:spPr>
          <a:xfrm>
            <a:off x="457200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703C"/>
                </a:solidFill>
                <a:latin typeface="Calibri" pitchFamily="34" charset="0"/>
              </a:rPr>
              <a:t>MSK + Lambda + EMR Serverless</a:t>
            </a:r>
          </a:p>
        </p:txBody>
      </p:sp>
      <p:sp>
        <p:nvSpPr>
          <p:cNvPr id="20" name="Req20_bg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Req20_border"/>
          <p:cNvSpPr/>
          <p:nvPr/>
        </p:nvSpPr>
        <p:spPr>
          <a:xfrm>
            <a:off x="731520" y="1828800"/>
            <a:ext cx="45720" cy="640080"/>
          </a:xfrm>
          <a:prstGeom prst="rect">
            <a:avLst/>
          </a:prstGeom>
          <a:solidFill>
            <a:srgbClr val="E25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ReqText20"/>
          <p:cNvSpPr/>
          <p:nvPr/>
        </p:nvSpPr>
        <p:spPr>
          <a:xfrm>
            <a:off x="91440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Kill Switch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Immediate halt capability with sub-second propagation</a:t>
            </a:r>
          </a:p>
        </p:txBody>
      </p:sp>
      <p:sp>
        <p:nvSpPr>
          <p:cNvPr id="23" name="ReqSvc20"/>
          <p:cNvSpPr/>
          <p:nvPr/>
        </p:nvSpPr>
        <p:spPr>
          <a:xfrm>
            <a:off x="4572000" y="1828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703C"/>
                </a:solidFill>
                <a:latin typeface="Calibri" pitchFamily="34" charset="0"/>
              </a:rPr>
              <a:t>API Gateway + Lambda + Kafka Compacted Topic</a:t>
            </a:r>
          </a:p>
        </p:txBody>
      </p:sp>
      <p:sp>
        <p:nvSpPr>
          <p:cNvPr id="30" name="Req30_bg"/>
          <p:cNvSpPr/>
          <p:nvPr/>
        </p:nvSpPr>
        <p:spPr>
          <a:xfrm>
            <a:off x="731520" y="2606040"/>
            <a:ext cx="768096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Req30_border"/>
          <p:cNvSpPr/>
          <p:nvPr/>
        </p:nvSpPr>
        <p:spPr>
          <a:xfrm>
            <a:off x="731520" y="2606040"/>
            <a:ext cx="45720" cy="64008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ReqText30"/>
          <p:cNvSpPr/>
          <p:nvPr/>
        </p:nvSpPr>
        <p:spPr>
          <a:xfrm>
            <a:off x="91440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Direct &amp; Exclusive Control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Human operator controls the switch — not the algo</a:t>
            </a:r>
          </a:p>
        </p:txBody>
      </p:sp>
      <p:sp>
        <p:nvSpPr>
          <p:cNvPr id="33" name="ReqSvc30"/>
          <p:cNvSpPr/>
          <p:nvPr/>
        </p:nvSpPr>
        <p:spPr>
          <a:xfrm>
            <a:off x="4572000" y="2606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703C"/>
                </a:solidFill>
                <a:latin typeface="Calibri" pitchFamily="34" charset="0"/>
              </a:rPr>
              <a:t>API Gateway (Operator Console)</a:t>
            </a:r>
          </a:p>
        </p:txBody>
      </p:sp>
      <p:sp>
        <p:nvSpPr>
          <p:cNvPr id="40" name="Req40_bg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Req40_border"/>
          <p:cNvSpPr/>
          <p:nvPr/>
        </p:nvSpPr>
        <p:spPr>
          <a:xfrm>
            <a:off x="731520" y="3383280"/>
            <a:ext cx="45720" cy="64008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ReqText40"/>
          <p:cNvSpPr/>
          <p:nvPr/>
        </p:nvSpPr>
        <p:spPr>
          <a:xfrm>
            <a:off x="914400" y="33832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Audit Trail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Immutable, append-only log with correlation IDs</a:t>
            </a:r>
          </a:p>
        </p:txBody>
      </p:sp>
      <p:sp>
        <p:nvSpPr>
          <p:cNvPr id="43" name="ReqSvc40"/>
          <p:cNvSpPr/>
          <p:nvPr/>
        </p:nvSpPr>
        <p:spPr>
          <a:xfrm>
            <a:off x="4572000" y="3383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703C"/>
                </a:solidFill>
                <a:latin typeface="Calibri" pitchFamily="34" charset="0"/>
              </a:rPr>
              <a:t>Kafka (90-day) + DynamoDB + CloudWatch</a:t>
            </a:r>
          </a:p>
        </p:txBody>
      </p:sp>
      <p:sp>
        <p:nvSpPr>
          <p:cNvPr id="50" name="Footer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Detection is decoupled from enforcement. Spark detects, Lambda enforces, Kafka connects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200400" y="2468880"/>
            <a:ext cx="2743200" cy="36576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A0AE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see it in action.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It Locally in 2 Minutes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solidFill>
            <a:srgbClr val="17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github.com/lukelittle/sec-15c3-5-market-access-controls-example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sec-15c3-5-market-access-controls-example/local</a:t>
            </a:r>
            <a:endParaRPr lang="en-US" sz="12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--build -d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That's it. Kafka, Spark, all 4 services, Kafka UI.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768096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AKHQ (Kafka UI)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3108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localhost:8080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topics and messages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611880"/>
            <a:ext cx="768096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611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Console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kill/unkill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114800"/>
            <a:ext cx="768096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Risk Detector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0040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(background)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4114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anomalies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$0. Requires: Docker. That's it.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Terraform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657600" cy="256032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54864" cy="25603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828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infrastructure in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terraform apply to create it 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terraform destroy to tear it down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version-controlled, reviewable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clicking through AWS console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2560320"/>
          </a:xfrm>
          <a:prstGeom prst="rect">
            <a:avLst/>
          </a:prstGeom>
          <a:solidFill>
            <a:srgbClr val="17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project's modules: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terraform/modules/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vpc/          # Network isolation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msk/          # Kafka cluster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lambdas/      # 4 functions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emr_serverless/ # Spark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dynamodb/     # State + audit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api_gateway/  # HTTP API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cloudwatch/   # Monitoring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iam/          # Permissions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applying for cloud or platform engineering roles, Terraform is on every job listing.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Deploying to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solidFill>
            <a:srgbClr val="17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make build                   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terraform/envs/dev        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terraform init &amp;&amp; terraform apply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Wait 15-20 min. Done.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 cost?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7680960" cy="347472"/>
          </a:xfrm>
          <a:prstGeom prst="rect">
            <a:avLst/>
          </a:prstGeom>
          <a:solidFill>
            <a:srgbClr val="2D35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0632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Cost/hour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7680960" cy="34747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429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 Serverless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0" y="3429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Kafka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3429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$2-3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7680960" cy="34747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3794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Serverless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3794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Spark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37947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$1-2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160520"/>
            <a:ext cx="7680960" cy="34747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41605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+ DynamoDB + S3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0" y="41605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storage, cache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4160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~$0.50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526280"/>
            <a:ext cx="7680960" cy="347472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526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$4-6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1752B-15D2-9206-ACF0-DB6FDE14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BD07AF3-66AE-460A-62D5-2CD2ED62831F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95607F2-EDAF-A7E8-96D5-54473E01B704}"/>
              </a:ext>
            </a:extLst>
          </p:cNvPr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AWS Demo Console</a:t>
            </a:r>
            <a:endParaRPr lang="en-US" sz="3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B17F44C-7C8E-B989-FD24-992F63C5187F}"/>
              </a:ext>
            </a:extLst>
          </p:cNvPr>
          <p:cNvSpPr/>
          <p:nvPr/>
        </p:nvSpPr>
        <p:spPr>
          <a:xfrm>
            <a:off x="731520" y="3429000"/>
            <a:ext cx="7680960" cy="34747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4F5363C-B4C2-B0FC-6285-ECE0E299C199}"/>
              </a:ext>
            </a:extLst>
          </p:cNvPr>
          <p:cNvSpPr/>
          <p:nvPr/>
        </p:nvSpPr>
        <p:spPr>
          <a:xfrm>
            <a:off x="731520" y="3794760"/>
            <a:ext cx="7680960" cy="34747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13525F0-09DD-1606-1C1A-7069BDE15F75}"/>
              </a:ext>
            </a:extLst>
          </p:cNvPr>
          <p:cNvSpPr/>
          <p:nvPr/>
        </p:nvSpPr>
        <p:spPr>
          <a:xfrm>
            <a:off x="731520" y="4160520"/>
            <a:ext cx="7680960" cy="34747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A571F57-37B9-94B6-8E14-E4B844B1E649}"/>
              </a:ext>
            </a:extLst>
          </p:cNvPr>
          <p:cNvSpPr/>
          <p:nvPr/>
        </p:nvSpPr>
        <p:spPr>
          <a:xfrm>
            <a:off x="36576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C3BC04A-2238-E5DE-499D-A9E87FCA7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1001268"/>
            <a:ext cx="6995160" cy="398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101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urity and Compliance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731520" y="1371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</a:rPr>
              <a:t>Security &amp; Production Gaps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5943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</a:rPr>
              <a:t>What this demo does well, and what a real broker-dealer would need</a:t>
            </a:r>
          </a:p>
        </p:txBody>
      </p:sp>
      <p:sp>
        <p:nvSpPr>
          <p:cNvPr id="10" name="HaveBg"/>
          <p:cNvSpPr/>
          <p:nvPr/>
        </p:nvSpPr>
        <p:spPr>
          <a:xfrm>
            <a:off x="731520" y="1005840"/>
            <a:ext cx="3749040" cy="24688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Have"/>
          <p:cNvSpPr/>
          <p:nvPr/>
        </p:nvSpPr>
        <p:spPr>
          <a:xfrm>
            <a:off x="868680" y="1005840"/>
            <a:ext cx="3474720" cy="2468880"/>
          </a:xfrm>
          <a:prstGeom prst="rect">
            <a:avLst/>
          </a:prstGeom>
          <a:noFill/>
          <a:ln/>
        </p:spPr>
        <p:txBody>
          <a:bodyPr wrap="square" lIns="91440" tIns="9144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703C"/>
                </a:solidFill>
                <a:latin typeface="Calibri" pitchFamily="34" charset="0"/>
              </a:rPr>
              <a:t>What This Demo Includes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Least-privilege IAM roles per Lambda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VPC isolation for MSK and Lambda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IAM authentication for Kafka (SASL_IAM)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TLS encryption in transit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Immutable audit trail with correlation IDs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No hardcoded credentials</a:t>
            </a:r>
          </a:p>
        </p:txBody>
      </p:sp>
      <p:sp>
        <p:nvSpPr>
          <p:cNvPr id="12" name="NeedBg"/>
          <p:cNvSpPr/>
          <p:nvPr/>
        </p:nvSpPr>
        <p:spPr>
          <a:xfrm>
            <a:off x="4663440" y="1005840"/>
            <a:ext cx="3749040" cy="24688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Need"/>
          <p:cNvSpPr/>
          <p:nvPr/>
        </p:nvSpPr>
        <p:spPr>
          <a:xfrm>
            <a:off x="4800600" y="1005840"/>
            <a:ext cx="3474720" cy="2468880"/>
          </a:xfrm>
          <a:prstGeom prst="rect">
            <a:avLst/>
          </a:prstGeom>
          <a:noFill/>
          <a:ln/>
        </p:spPr>
        <p:txBody>
          <a:bodyPr wrap="square" lIns="91440" tIns="9144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25444"/>
                </a:solidFill>
                <a:latin typeface="Calibri" pitchFamily="34" charset="0"/>
              </a:rPr>
              <a:t>What Production Needs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Encryption at rest (KMS for MSK, DynamoDB, S3)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API authentication (OAuth/IAM on operator API)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Rate limiting and input validation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7-year audit retention (SEC requirement)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Compliance officer sign-off and testing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</a:rPr>
              <a:t>Disaster recovery and incident response</a:t>
            </a:r>
          </a:p>
        </p:txBody>
      </p:sp>
      <p:sp>
        <p:nvSpPr>
          <p:cNvPr id="14" name="Footer"/>
          <p:cNvSpPr/>
          <p:nvPr/>
        </p:nvSpPr>
        <p:spPr>
          <a:xfrm>
            <a:off x="731520" y="3657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This demo prioritizes education over production hardening. Always engage security and compliance teams before deploying trading systems.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for Your Career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188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LinkedIn, Netflix, Uber, every major bank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Streaming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detection, risk analytics, recommendations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2468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Managed Services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teams ship without managing infrastructure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108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expectation for cloud engineering roles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Architecture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3749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pattern for systems that scale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patterns apply beyond finance: fraud detection, infrastructure monitoring,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alerting, content moderation, and anywhere anomalies need real-time response.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Involved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github.com/lukelittle/sec-15c3-5-market-access-controls-example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084832"/>
            <a:ext cx="228600" cy="228600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0848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run locally with Docker Compose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2860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2 minutes, no AWS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724912"/>
            <a:ext cx="228600" cy="228600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7249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26517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10 exercises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beginner (add a kill scope) to advanced (chaos engineering)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64992"/>
            <a:ext cx="228600" cy="228600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3649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291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5661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dashboard, add throttling, implement multi-window detection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005072"/>
            <a:ext cx="228600" cy="228600"/>
          </a:xfrm>
          <a:prstGeom prst="ellipse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400507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80160" y="3931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patterns to course projects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2062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detection, event-driven responses, audit trails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nect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with Me</a:t>
            </a:r>
            <a:endParaRPr lang="en-US" sz="3600" dirty="0"/>
          </a:p>
        </p:txBody>
      </p:sp>
      <p:sp>
        <p:nvSpPr>
          <p:cNvPr id="8" name="QR Background"/>
          <p:cNvSpPr/>
          <p:nvPr/>
        </p:nvSpPr>
        <p:spPr>
          <a:xfrm>
            <a:off x="3200400" y="1143000"/>
            <a:ext cx="2743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QR 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2468880" cy="2468880"/>
          </a:xfrm>
          <a:prstGeom prst="rect">
            <a:avLst/>
          </a:prstGeom>
        </p:spPr>
      </p:pic>
      <p:sp>
        <p:nvSpPr>
          <p:cNvPr id="5" name="URL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7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linkedin.com/in/lucaslittle</a:t>
            </a:r>
            <a:endParaRPr lang="en-US" sz="1800" dirty="0"/>
          </a:p>
        </p:txBody>
      </p:sp>
      <p:sp>
        <p:nvSpPr>
          <p:cNvPr id="6" name="Thank You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1511</Words>
  <Application>Microsoft Macintosh PowerPoint</Application>
  <PresentationFormat>On-screen Show (16:9)</PresentationFormat>
  <Paragraphs>301</Paragraphs>
  <Slides>24</Slides>
  <Notes>18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Market Access Controls: SEC Rule 15c3-5</dc:title>
  <dc:subject>PptxGenJS Presentation</dc:subject>
  <dc:creator>Luke Little</dc:creator>
  <cp:lastModifiedBy>Lucas Little</cp:lastModifiedBy>
  <cp:revision>4</cp:revision>
  <dcterms:created xsi:type="dcterms:W3CDTF">2026-03-22T22:29:07Z</dcterms:created>
  <dcterms:modified xsi:type="dcterms:W3CDTF">2026-03-24T03:26:16Z</dcterms:modified>
</cp:coreProperties>
</file>